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Raleway" charset="1" panose="00000000000000000000"/>
      <p:regular r:id="rId19"/>
    </p:embeddedFont>
    <p:embeddedFont>
      <p:font typeface="Roboto" charset="1" panose="02000000000000000000"/>
      <p:regular r:id="rId20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6392" y="4339824"/>
            <a:ext cx="15217" cy="14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7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11218" y="212572"/>
            <a:ext cx="15450347" cy="8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CSE400 : Fundamentals of Probability in Computing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4169" y="1362310"/>
            <a:ext cx="2424445" cy="132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7"/>
              </a:lnSpc>
            </a:pPr>
            <a:r>
              <a:rPr lang="en-US" sz="37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- 6</a:t>
            </a:r>
          </a:p>
          <a:p>
            <a:pPr algn="ctr">
              <a:lnSpc>
                <a:spcPts val="5237"/>
              </a:lnSpc>
            </a:pPr>
            <a:r>
              <a:rPr lang="en-US" sz="37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Section - 1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2659" y="2597544"/>
            <a:ext cx="2960520" cy="8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479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659" y="3990799"/>
            <a:ext cx="6984309" cy="438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9667" indent="-544834" lvl="1">
              <a:lnSpc>
                <a:spcPts val="7065"/>
              </a:lnSpc>
              <a:buAutoNum type="arabicPeriod" startAt="1"/>
            </a:pPr>
            <a:r>
              <a:rPr lang="en-US" b="true" sz="50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Manas Pandya</a:t>
            </a:r>
          </a:p>
          <a:p>
            <a:pPr algn="l" marL="1089667" indent="-544834" lvl="1">
              <a:lnSpc>
                <a:spcPts val="7065"/>
              </a:lnSpc>
              <a:buAutoNum type="arabicPeriod" startAt="1"/>
            </a:pPr>
            <a:r>
              <a:rPr lang="en-US" b="true" sz="50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Dhruvil Joshi</a:t>
            </a:r>
          </a:p>
          <a:p>
            <a:pPr algn="l" marL="1089667" indent="-544834" lvl="1">
              <a:lnSpc>
                <a:spcPts val="7065"/>
              </a:lnSpc>
              <a:buAutoNum type="arabicPeriod" startAt="1"/>
            </a:pPr>
            <a:r>
              <a:rPr lang="en-US" b="true" sz="50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Prince Vegad</a:t>
            </a:r>
          </a:p>
          <a:p>
            <a:pPr algn="l" marL="1089667" indent="-544834" lvl="1">
              <a:lnSpc>
                <a:spcPts val="7065"/>
              </a:lnSpc>
              <a:buAutoNum type="arabicPeriod" startAt="1"/>
            </a:pPr>
            <a:r>
              <a:rPr lang="en-US" b="true" sz="50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Samridhi Mehrotra</a:t>
            </a:r>
          </a:p>
          <a:p>
            <a:pPr algn="l" marL="1089667" indent="-544834" lvl="1">
              <a:lnSpc>
                <a:spcPts val="7065"/>
              </a:lnSpc>
              <a:buAutoNum type="arabicPeriod" startAt="1"/>
            </a:pPr>
            <a:r>
              <a:rPr lang="en-US" b="true" sz="50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Manya Chudasma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3382789"/>
            <a:ext cx="9401979" cy="168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39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Probabilistic Route Selection for On‐Time Arrival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33552" y="5341823"/>
            <a:ext cx="69282" cy="59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613" y="5522798"/>
            <a:ext cx="9842807" cy="125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Motivation: commuters and intelligent transportation system require routes </a:t>
            </a:r>
          </a:p>
          <a:p>
            <a:pPr algn="l">
              <a:lnSpc>
                <a:spcPts val="343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that maximize the probability of arriving beforea deadline under uncertain traffic.</a:t>
            </a:r>
          </a:p>
          <a:p>
            <a:pPr algn="l">
              <a:lnSpc>
                <a:spcPts val="343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shortest-paths can be suboptimal when travel times are stochastic.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4024167"/>
            <a:ext cx="7227538" cy="57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Objective &amp; Core Probability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70474" y="4824454"/>
            <a:ext cx="69282" cy="59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613" y="5014954"/>
            <a:ext cx="9558971" cy="40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Objective: maximize P(T_route ≤ D),the probability thattotalroute travel time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613" y="5456240"/>
            <a:ext cx="9208773" cy="82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T_route is less than orequalto deadline D. Decision rule:choose the route with the highest reliability, not necessarily the lowest expected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613" y="3712883"/>
            <a:ext cx="1110822" cy="684753"/>
            <a:chOff x="0" y="0"/>
            <a:chExt cx="927100" cy="57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7100" cy="571500"/>
            </a:xfrm>
            <a:custGeom>
              <a:avLst/>
              <a:gdLst/>
              <a:ahLst/>
              <a:cxnLst/>
              <a:rect r="r" b="b" t="t" l="l"/>
              <a:pathLst>
                <a:path h="571500" w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91490"/>
                  </a:lnTo>
                  <a:cubicBezTo>
                    <a:pt x="0" y="502158"/>
                    <a:pt x="2032" y="512318"/>
                    <a:pt x="6096" y="522097"/>
                  </a:cubicBezTo>
                  <a:cubicBezTo>
                    <a:pt x="10160" y="531876"/>
                    <a:pt x="15875" y="540512"/>
                    <a:pt x="23495" y="548005"/>
                  </a:cubicBezTo>
                  <a:cubicBezTo>
                    <a:pt x="31115" y="555498"/>
                    <a:pt x="39624" y="561340"/>
                    <a:pt x="49403" y="565404"/>
                  </a:cubicBezTo>
                  <a:cubicBezTo>
                    <a:pt x="59182" y="569468"/>
                    <a:pt x="69342" y="571500"/>
                    <a:pt x="80010" y="571500"/>
                  </a:cubicBezTo>
                  <a:lnTo>
                    <a:pt x="847090" y="571500"/>
                  </a:lnTo>
                  <a:cubicBezTo>
                    <a:pt x="857758" y="571500"/>
                    <a:pt x="867918" y="569468"/>
                    <a:pt x="877697" y="565404"/>
                  </a:cubicBezTo>
                  <a:cubicBezTo>
                    <a:pt x="887476" y="561340"/>
                    <a:pt x="896112" y="555625"/>
                    <a:pt x="903605" y="548005"/>
                  </a:cubicBezTo>
                  <a:cubicBezTo>
                    <a:pt x="911098" y="540385"/>
                    <a:pt x="916940" y="531876"/>
                    <a:pt x="921004" y="522097"/>
                  </a:cubicBezTo>
                  <a:cubicBezTo>
                    <a:pt x="925068" y="512318"/>
                    <a:pt x="927100" y="502158"/>
                    <a:pt x="927100" y="491490"/>
                  </a:cubicBezTo>
                  <a:lnTo>
                    <a:pt x="927100" y="80010"/>
                  </a:lnTo>
                  <a:cubicBezTo>
                    <a:pt x="927100" y="69469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2"/>
              <a:stretch>
                <a:fillRect l="-17" t="0" r="-3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41999" y="3712883"/>
            <a:ext cx="1110822" cy="684753"/>
            <a:chOff x="0" y="0"/>
            <a:chExt cx="927100" cy="57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7100" cy="571500"/>
            </a:xfrm>
            <a:custGeom>
              <a:avLst/>
              <a:gdLst/>
              <a:ahLst/>
              <a:cxnLst/>
              <a:rect r="r" b="b" t="t" l="l"/>
              <a:pathLst>
                <a:path h="571500" w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91490"/>
                  </a:lnTo>
                  <a:cubicBezTo>
                    <a:pt x="0" y="502158"/>
                    <a:pt x="2032" y="512318"/>
                    <a:pt x="6096" y="522097"/>
                  </a:cubicBezTo>
                  <a:cubicBezTo>
                    <a:pt x="10160" y="531876"/>
                    <a:pt x="15875" y="540512"/>
                    <a:pt x="23495" y="548005"/>
                  </a:cubicBezTo>
                  <a:cubicBezTo>
                    <a:pt x="31115" y="555498"/>
                    <a:pt x="39624" y="561340"/>
                    <a:pt x="49403" y="565404"/>
                  </a:cubicBezTo>
                  <a:cubicBezTo>
                    <a:pt x="59182" y="569468"/>
                    <a:pt x="69342" y="571500"/>
                    <a:pt x="80010" y="571500"/>
                  </a:cubicBezTo>
                  <a:lnTo>
                    <a:pt x="847090" y="571500"/>
                  </a:lnTo>
                  <a:cubicBezTo>
                    <a:pt x="857758" y="571500"/>
                    <a:pt x="867918" y="569468"/>
                    <a:pt x="877697" y="565404"/>
                  </a:cubicBezTo>
                  <a:cubicBezTo>
                    <a:pt x="887476" y="561340"/>
                    <a:pt x="896112" y="555625"/>
                    <a:pt x="903605" y="548005"/>
                  </a:cubicBezTo>
                  <a:cubicBezTo>
                    <a:pt x="911098" y="540385"/>
                    <a:pt x="916940" y="531876"/>
                    <a:pt x="921004" y="522097"/>
                  </a:cubicBezTo>
                  <a:cubicBezTo>
                    <a:pt x="925068" y="512318"/>
                    <a:pt x="927100" y="502158"/>
                    <a:pt x="927100" y="491490"/>
                  </a:cubicBezTo>
                  <a:lnTo>
                    <a:pt x="927100" y="80010"/>
                  </a:lnTo>
                  <a:cubicBezTo>
                    <a:pt x="927100" y="69469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3"/>
              <a:stretch>
                <a:fillRect l="-17" t="0" r="-3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11384" y="3712883"/>
            <a:ext cx="1110822" cy="684753"/>
            <a:chOff x="0" y="0"/>
            <a:chExt cx="927100" cy="57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7100" cy="571500"/>
            </a:xfrm>
            <a:custGeom>
              <a:avLst/>
              <a:gdLst/>
              <a:ahLst/>
              <a:cxnLst/>
              <a:rect r="r" b="b" t="t" l="l"/>
              <a:pathLst>
                <a:path h="571500" w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91490"/>
                  </a:lnTo>
                  <a:cubicBezTo>
                    <a:pt x="0" y="502158"/>
                    <a:pt x="2032" y="512318"/>
                    <a:pt x="6096" y="522097"/>
                  </a:cubicBezTo>
                  <a:cubicBezTo>
                    <a:pt x="10160" y="531876"/>
                    <a:pt x="15875" y="540512"/>
                    <a:pt x="23495" y="548005"/>
                  </a:cubicBezTo>
                  <a:cubicBezTo>
                    <a:pt x="31115" y="555498"/>
                    <a:pt x="39624" y="561340"/>
                    <a:pt x="49403" y="565404"/>
                  </a:cubicBezTo>
                  <a:cubicBezTo>
                    <a:pt x="59182" y="569468"/>
                    <a:pt x="69342" y="571500"/>
                    <a:pt x="80010" y="571500"/>
                  </a:cubicBezTo>
                  <a:lnTo>
                    <a:pt x="847090" y="571500"/>
                  </a:lnTo>
                  <a:cubicBezTo>
                    <a:pt x="857758" y="571500"/>
                    <a:pt x="867918" y="569468"/>
                    <a:pt x="877697" y="565404"/>
                  </a:cubicBezTo>
                  <a:cubicBezTo>
                    <a:pt x="887476" y="561340"/>
                    <a:pt x="896112" y="555625"/>
                    <a:pt x="903605" y="548005"/>
                  </a:cubicBezTo>
                  <a:cubicBezTo>
                    <a:pt x="911098" y="540385"/>
                    <a:pt x="916940" y="531876"/>
                    <a:pt x="921004" y="522097"/>
                  </a:cubicBezTo>
                  <a:cubicBezTo>
                    <a:pt x="925068" y="512318"/>
                    <a:pt x="927100" y="502158"/>
                    <a:pt x="927100" y="491490"/>
                  </a:cubicBezTo>
                  <a:lnTo>
                    <a:pt x="927100" y="80010"/>
                  </a:lnTo>
                  <a:cubicBezTo>
                    <a:pt x="927100" y="69469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4"/>
              <a:stretch>
                <a:fillRect l="-17" t="0" r="-3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80770" y="3712883"/>
            <a:ext cx="1110822" cy="684753"/>
            <a:chOff x="0" y="0"/>
            <a:chExt cx="927100" cy="57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7100" cy="571500"/>
            </a:xfrm>
            <a:custGeom>
              <a:avLst/>
              <a:gdLst/>
              <a:ahLst/>
              <a:cxnLst/>
              <a:rect r="r" b="b" t="t" l="l"/>
              <a:pathLst>
                <a:path h="571500" w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91490"/>
                  </a:lnTo>
                  <a:cubicBezTo>
                    <a:pt x="0" y="502158"/>
                    <a:pt x="2032" y="512318"/>
                    <a:pt x="6096" y="522097"/>
                  </a:cubicBezTo>
                  <a:cubicBezTo>
                    <a:pt x="10160" y="531876"/>
                    <a:pt x="15875" y="540512"/>
                    <a:pt x="23495" y="548005"/>
                  </a:cubicBezTo>
                  <a:cubicBezTo>
                    <a:pt x="31115" y="555498"/>
                    <a:pt x="39624" y="561340"/>
                    <a:pt x="49403" y="565404"/>
                  </a:cubicBezTo>
                  <a:cubicBezTo>
                    <a:pt x="59182" y="569468"/>
                    <a:pt x="69342" y="571500"/>
                    <a:pt x="80010" y="571500"/>
                  </a:cubicBezTo>
                  <a:lnTo>
                    <a:pt x="847090" y="571500"/>
                  </a:lnTo>
                  <a:cubicBezTo>
                    <a:pt x="857758" y="571500"/>
                    <a:pt x="867918" y="569468"/>
                    <a:pt x="877697" y="565404"/>
                  </a:cubicBezTo>
                  <a:cubicBezTo>
                    <a:pt x="887476" y="561340"/>
                    <a:pt x="896112" y="555625"/>
                    <a:pt x="903605" y="548005"/>
                  </a:cubicBezTo>
                  <a:cubicBezTo>
                    <a:pt x="911098" y="540385"/>
                    <a:pt x="916940" y="531876"/>
                    <a:pt x="921004" y="522097"/>
                  </a:cubicBezTo>
                  <a:cubicBezTo>
                    <a:pt x="925068" y="512318"/>
                    <a:pt x="927100" y="502158"/>
                    <a:pt x="927100" y="491490"/>
                  </a:cubicBezTo>
                  <a:lnTo>
                    <a:pt x="927100" y="80010"/>
                  </a:lnTo>
                  <a:cubicBezTo>
                    <a:pt x="927100" y="69469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5"/>
              <a:stretch>
                <a:fillRect l="-17" t="0" r="-3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2613" y="2229985"/>
            <a:ext cx="7281177" cy="91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2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End-to-End System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96837" y="3376161"/>
            <a:ext cx="89048" cy="7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5340" y="3700011"/>
            <a:ext cx="2401323" cy="404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Traffic Simulation</a:t>
            </a:r>
          </a:p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Generate realistic vehicle trajectories and travel time samples using SUMO and 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calibrated </a:t>
            </a:r>
          </a:p>
          <a:p>
            <a:pPr algn="l">
              <a:lnSpc>
                <a:spcPts val="323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scenarios.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6612" y="3700011"/>
            <a:ext cx="1614115" cy="8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 Extraction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47060" y="4520120"/>
            <a:ext cx="69282" cy="59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7915" y="3700011"/>
            <a:ext cx="1926850" cy="8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Distribution Modeling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75506" y="4520120"/>
            <a:ext cx="69282" cy="59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39202" y="3700011"/>
            <a:ext cx="2362276" cy="360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Reliability Estimation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sampling and analytical bounds produce P(T_route ≤ D) for candidate 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routes.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96612" y="4701095"/>
            <a:ext cx="2391386" cy="260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Extractlink-level travel times and timestamps from simulation logs for statistical 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67915" y="4701095"/>
            <a:ext cx="2492030" cy="216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Fitper-segment PDFs/CDFs (e.g., lognormal), then aggregate to obtain route distributions.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39202" y="4701095"/>
            <a:ext cx="1591564" cy="41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MonteCarlo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613" y="2754229"/>
            <a:ext cx="10393030" cy="5873660"/>
            <a:chOff x="0" y="0"/>
            <a:chExt cx="8674100" cy="490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41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822190"/>
                  </a:lnTo>
                  <a:cubicBezTo>
                    <a:pt x="0" y="4832858"/>
                    <a:pt x="2032" y="4843018"/>
                    <a:pt x="6096" y="4852797"/>
                  </a:cubicBezTo>
                  <a:cubicBezTo>
                    <a:pt x="10160" y="4862576"/>
                    <a:pt x="15875" y="4871212"/>
                    <a:pt x="23495" y="4878705"/>
                  </a:cubicBezTo>
                  <a:cubicBezTo>
                    <a:pt x="31115" y="4886198"/>
                    <a:pt x="39624" y="4892040"/>
                    <a:pt x="49403" y="4896104"/>
                  </a:cubicBezTo>
                  <a:cubicBezTo>
                    <a:pt x="59055" y="4900041"/>
                    <a:pt x="69088" y="4902073"/>
                    <a:pt x="79502" y="4902200"/>
                  </a:cubicBezTo>
                  <a:lnTo>
                    <a:pt x="8594598" y="4902200"/>
                  </a:lnTo>
                  <a:cubicBezTo>
                    <a:pt x="8605012" y="4902073"/>
                    <a:pt x="8615045" y="4900041"/>
                    <a:pt x="8624697" y="4896104"/>
                  </a:cubicBezTo>
                  <a:cubicBezTo>
                    <a:pt x="8634476" y="4892040"/>
                    <a:pt x="8643112" y="4886325"/>
                    <a:pt x="8650605" y="4878705"/>
                  </a:cubicBezTo>
                  <a:cubicBezTo>
                    <a:pt x="8658098" y="4871085"/>
                    <a:pt x="8663940" y="4862576"/>
                    <a:pt x="8668004" y="4852797"/>
                  </a:cubicBezTo>
                  <a:cubicBezTo>
                    <a:pt x="8672068" y="4843018"/>
                    <a:pt x="8674100" y="4832731"/>
                    <a:pt x="8674100" y="4822190"/>
                  </a:cubicBezTo>
                  <a:lnTo>
                    <a:pt x="8674100" y="80010"/>
                  </a:lnTo>
                  <a:cubicBezTo>
                    <a:pt x="8674100" y="69469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6047" y="3621583"/>
            <a:ext cx="91300" cy="9130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047" y="4580237"/>
            <a:ext cx="91300" cy="9130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96047" y="5554108"/>
            <a:ext cx="91300" cy="9130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96047" y="6969265"/>
            <a:ext cx="91300" cy="9130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72613" y="1260180"/>
            <a:ext cx="5875897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Sources of Uncertainty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82658" y="3417197"/>
            <a:ext cx="4841296" cy="463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Measurement noise: simulation seeds, sampling variability, sensor error</a:t>
            </a:r>
          </a:p>
          <a:p>
            <a:pPr algn="l">
              <a:lnSpc>
                <a:spcPts val="503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Environmental variability: changing </a:t>
            </a:r>
          </a:p>
          <a:p>
            <a:pPr algn="l">
              <a:lnSpc>
                <a:spcPts val="191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demand, incidents, weather effects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Microscale interactions: queue </a:t>
            </a:r>
          </a:p>
          <a:p>
            <a:pPr algn="l">
              <a:lnSpc>
                <a:spcPts val="155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dynamics, vehicle interactions, gap 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acceptance</a:t>
            </a:r>
          </a:p>
          <a:p>
            <a:pPr algn="l">
              <a:lnSpc>
                <a:spcPts val="299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Modeling error: distributional </a:t>
            </a:r>
          </a:p>
          <a:p>
            <a:pPr algn="l">
              <a:lnSpc>
                <a:spcPts val="395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assumptions, independence </a:t>
            </a:r>
          </a:p>
          <a:p>
            <a:pPr algn="l">
              <a:lnSpc>
                <a:spcPts val="2995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approximations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613" y="2160776"/>
            <a:ext cx="5280207" cy="7060565"/>
            <a:chOff x="0" y="0"/>
            <a:chExt cx="4406900" cy="589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06900" cy="5892800"/>
            </a:xfrm>
            <a:custGeom>
              <a:avLst/>
              <a:gdLst/>
              <a:ahLst/>
              <a:cxnLst/>
              <a:rect r="r" b="b" t="t" l="l"/>
              <a:pathLst>
                <a:path h="5892800" w="44069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5812790"/>
                  </a:lnTo>
                  <a:cubicBezTo>
                    <a:pt x="0" y="5823458"/>
                    <a:pt x="2032" y="5833618"/>
                    <a:pt x="6096" y="5843397"/>
                  </a:cubicBezTo>
                  <a:cubicBezTo>
                    <a:pt x="10160" y="5853176"/>
                    <a:pt x="15875" y="5861812"/>
                    <a:pt x="23495" y="5869305"/>
                  </a:cubicBezTo>
                  <a:cubicBezTo>
                    <a:pt x="31115" y="5876798"/>
                    <a:pt x="39624" y="5882640"/>
                    <a:pt x="49403" y="5886704"/>
                  </a:cubicBezTo>
                  <a:cubicBezTo>
                    <a:pt x="59055" y="5890641"/>
                    <a:pt x="69088" y="5892673"/>
                    <a:pt x="79502" y="5892800"/>
                  </a:cubicBezTo>
                  <a:lnTo>
                    <a:pt x="4327398" y="5892800"/>
                  </a:lnTo>
                  <a:cubicBezTo>
                    <a:pt x="4337812" y="5892673"/>
                    <a:pt x="4347845" y="5890641"/>
                    <a:pt x="4357497" y="5886704"/>
                  </a:cubicBezTo>
                  <a:cubicBezTo>
                    <a:pt x="4367276" y="5882640"/>
                    <a:pt x="4375912" y="5876925"/>
                    <a:pt x="4383405" y="5869305"/>
                  </a:cubicBezTo>
                  <a:cubicBezTo>
                    <a:pt x="4390898" y="5861685"/>
                    <a:pt x="4396740" y="5853176"/>
                    <a:pt x="4400804" y="5843397"/>
                  </a:cubicBezTo>
                  <a:cubicBezTo>
                    <a:pt x="4404868" y="5833618"/>
                    <a:pt x="4406900" y="5823331"/>
                    <a:pt x="4406900" y="5812790"/>
                  </a:cubicBezTo>
                  <a:lnTo>
                    <a:pt x="4406900" y="80010"/>
                  </a:lnTo>
                  <a:cubicBezTo>
                    <a:pt x="4406900" y="69469"/>
                    <a:pt x="4404868" y="59182"/>
                    <a:pt x="4400804" y="49403"/>
                  </a:cubicBezTo>
                  <a:cubicBezTo>
                    <a:pt x="4396740" y="39624"/>
                    <a:pt x="4391025" y="30988"/>
                    <a:pt x="4383405" y="23495"/>
                  </a:cubicBezTo>
                  <a:cubicBezTo>
                    <a:pt x="4375785" y="16002"/>
                    <a:pt x="4367276" y="10160"/>
                    <a:pt x="4357497" y="6096"/>
                  </a:cubicBezTo>
                  <a:cubicBezTo>
                    <a:pt x="4347718" y="2032"/>
                    <a:pt x="4337558" y="0"/>
                    <a:pt x="4326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681944"/>
            <a:ext cx="5771419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Random Variables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1606" y="4352736"/>
            <a:ext cx="9674892" cy="240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Ti = travel time random variable for segment i (stochastic, positive support). T_route = Σ_{i=1}^n Ti — sum of segment travel times; distribution depends on </a:t>
            </a:r>
          </a:p>
          <a:p>
            <a:pPr algn="l">
              <a:lnSpc>
                <a:spcPts val="155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marginal PDFs and cross-segment dependence.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= T_route − D. On-time if A ≤ 0; lateness risk when A &gt; 0.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613" y="2754229"/>
            <a:ext cx="10393030" cy="5873660"/>
            <a:chOff x="0" y="0"/>
            <a:chExt cx="8674100" cy="490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41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4822190"/>
                  </a:lnTo>
                  <a:cubicBezTo>
                    <a:pt x="0" y="4832858"/>
                    <a:pt x="2032" y="4843018"/>
                    <a:pt x="6096" y="4852797"/>
                  </a:cubicBezTo>
                  <a:cubicBezTo>
                    <a:pt x="10160" y="4862576"/>
                    <a:pt x="15875" y="4871212"/>
                    <a:pt x="23495" y="4878705"/>
                  </a:cubicBezTo>
                  <a:cubicBezTo>
                    <a:pt x="31115" y="4886198"/>
                    <a:pt x="39624" y="4892040"/>
                    <a:pt x="49403" y="4896104"/>
                  </a:cubicBezTo>
                  <a:cubicBezTo>
                    <a:pt x="59055" y="4900041"/>
                    <a:pt x="69088" y="4902073"/>
                    <a:pt x="79502" y="4902200"/>
                  </a:cubicBezTo>
                  <a:lnTo>
                    <a:pt x="8594598" y="4902200"/>
                  </a:lnTo>
                  <a:cubicBezTo>
                    <a:pt x="8605012" y="4902073"/>
                    <a:pt x="8615045" y="4900041"/>
                    <a:pt x="8624697" y="4896104"/>
                  </a:cubicBezTo>
                  <a:cubicBezTo>
                    <a:pt x="8634476" y="4892040"/>
                    <a:pt x="8643112" y="4886325"/>
                    <a:pt x="8650605" y="4878705"/>
                  </a:cubicBezTo>
                  <a:cubicBezTo>
                    <a:pt x="8658098" y="4871085"/>
                    <a:pt x="8663940" y="4862576"/>
                    <a:pt x="8668004" y="4852797"/>
                  </a:cubicBezTo>
                  <a:cubicBezTo>
                    <a:pt x="8672068" y="4843018"/>
                    <a:pt x="8674100" y="4832731"/>
                    <a:pt x="8674100" y="4822190"/>
                  </a:cubicBezTo>
                  <a:lnTo>
                    <a:pt x="8674100" y="80010"/>
                  </a:lnTo>
                  <a:cubicBezTo>
                    <a:pt x="8674100" y="69469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1260180"/>
            <a:ext cx="10828183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Probabilistic Model Choice &amp; Assumptions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4690" y="2996820"/>
            <a:ext cx="5310078" cy="5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Model: Ti ~ Lognormal(μi, σi^2) — chosen for positive support and right skew consistent with travel-time observations.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Assumptions: (1) segment independence </a:t>
            </a:r>
          </a:p>
          <a:p>
            <a:pPr algn="just">
              <a:lnSpc>
                <a:spcPts val="155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(simplifies aggregation), (2) quasi‑static 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traffic conditions during planning horizon, </a:t>
            </a:r>
          </a:p>
          <a:p>
            <a:pPr algn="just">
              <a:lnSpc>
                <a:spcPts val="131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(3) stationarity of fitted parameters within 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scenario. Practical note: assumptions ease </a:t>
            </a:r>
          </a:p>
          <a:p>
            <a:pPr algn="just">
              <a:lnSpc>
                <a:spcPts val="155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computation but require validation against 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data; violations increase estimation error.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26510" y="411"/>
            <a:ext cx="6847531" cy="10286102"/>
            <a:chOff x="0" y="0"/>
            <a:chExt cx="5715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3578932"/>
            <a:ext cx="8898838" cy="217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PDFs to Reliability — Visual Evidence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Interpretation: segment-level skewpropagatestoroute-leveldispersion;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20" y="5159223"/>
            <a:ext cx="69282" cy="59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613" y="5781483"/>
            <a:ext cx="9229148" cy="8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evaluateCDF atD to obtain reliability.Visualdiagnosticsconfirmmodel fit and quantify early vs late risk.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6035" y="-96686"/>
            <a:ext cx="17595915" cy="10475368"/>
            <a:chOff x="0" y="0"/>
            <a:chExt cx="11557000" cy="68802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CECF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CECF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753225"/>
            </a:xfrm>
            <a:custGeom>
              <a:avLst/>
              <a:gdLst/>
              <a:ahLst/>
              <a:cxnLst/>
              <a:rect r="r" b="b" t="t" l="l"/>
              <a:pathLst>
                <a:path h="6753225" w="11430000">
                  <a:moveTo>
                    <a:pt x="0" y="0"/>
                  </a:moveTo>
                  <a:lnTo>
                    <a:pt x="0" y="6753225"/>
                  </a:lnTo>
                  <a:lnTo>
                    <a:pt x="11430000" y="6753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6355" y="2218826"/>
            <a:ext cx="7628121" cy="6395440"/>
            <a:chOff x="0" y="0"/>
            <a:chExt cx="6680200" cy="5600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0200" cy="5600700"/>
            </a:xfrm>
            <a:custGeom>
              <a:avLst/>
              <a:gdLst/>
              <a:ahLst/>
              <a:cxnLst/>
              <a:rect r="r" b="b" t="t" l="l"/>
              <a:pathLst>
                <a:path h="5600700" w="66802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5520690"/>
                  </a:lnTo>
                  <a:cubicBezTo>
                    <a:pt x="0" y="5531358"/>
                    <a:pt x="2032" y="5541518"/>
                    <a:pt x="6096" y="5551297"/>
                  </a:cubicBezTo>
                  <a:cubicBezTo>
                    <a:pt x="10160" y="5561076"/>
                    <a:pt x="15875" y="5569712"/>
                    <a:pt x="23495" y="5577205"/>
                  </a:cubicBezTo>
                  <a:cubicBezTo>
                    <a:pt x="31115" y="5584698"/>
                    <a:pt x="39624" y="5590540"/>
                    <a:pt x="49403" y="5594604"/>
                  </a:cubicBezTo>
                  <a:cubicBezTo>
                    <a:pt x="59182" y="5598668"/>
                    <a:pt x="69469" y="5600700"/>
                    <a:pt x="80010" y="5600700"/>
                  </a:cubicBezTo>
                  <a:lnTo>
                    <a:pt x="6600190" y="5600700"/>
                  </a:lnTo>
                  <a:cubicBezTo>
                    <a:pt x="6610858" y="5600700"/>
                    <a:pt x="6621018" y="5598668"/>
                    <a:pt x="6630797" y="5594604"/>
                  </a:cubicBezTo>
                  <a:cubicBezTo>
                    <a:pt x="6640576" y="5590540"/>
                    <a:pt x="6649212" y="5584698"/>
                    <a:pt x="6656705" y="5577205"/>
                  </a:cubicBezTo>
                  <a:cubicBezTo>
                    <a:pt x="6664198" y="5569712"/>
                    <a:pt x="6670040" y="5561076"/>
                    <a:pt x="6674104" y="5551297"/>
                  </a:cubicBezTo>
                  <a:cubicBezTo>
                    <a:pt x="6678168" y="5541518"/>
                    <a:pt x="6680200" y="5531231"/>
                    <a:pt x="6680200" y="5520690"/>
                  </a:cubicBezTo>
                  <a:lnTo>
                    <a:pt x="6680200" y="80010"/>
                  </a:lnTo>
                  <a:cubicBezTo>
                    <a:pt x="6680200" y="69342"/>
                    <a:pt x="6678168" y="59182"/>
                    <a:pt x="6674104" y="49403"/>
                  </a:cubicBezTo>
                  <a:cubicBezTo>
                    <a:pt x="6670040" y="39624"/>
                    <a:pt x="6664325" y="30988"/>
                    <a:pt x="6656705" y="23495"/>
                  </a:cubicBezTo>
                  <a:cubicBezTo>
                    <a:pt x="6649085" y="16002"/>
                    <a:pt x="6640576" y="10160"/>
                    <a:pt x="6630797" y="6096"/>
                  </a:cubicBezTo>
                  <a:cubicBezTo>
                    <a:pt x="6621018" y="2032"/>
                    <a:pt x="6610858" y="0"/>
                    <a:pt x="66001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95081" y="2334843"/>
            <a:ext cx="87013" cy="87013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95081" y="2842418"/>
            <a:ext cx="87013" cy="87013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95081" y="3349992"/>
            <a:ext cx="87013" cy="87013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95081" y="3857567"/>
            <a:ext cx="87013" cy="87013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95081" y="4365142"/>
            <a:ext cx="87013" cy="87013"/>
            <a:chOff x="0" y="0"/>
            <a:chExt cx="5715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95081" y="5293278"/>
            <a:ext cx="87013" cy="87013"/>
            <a:chOff x="0" y="0"/>
            <a:chExt cx="5715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95081" y="6221414"/>
            <a:ext cx="87013" cy="87013"/>
            <a:chOff x="0" y="0"/>
            <a:chExt cx="57150" cy="57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95081" y="7149551"/>
            <a:ext cx="87013" cy="87013"/>
            <a:chOff x="0" y="0"/>
            <a:chExt cx="57150" cy="57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C393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56355" y="1065266"/>
            <a:ext cx="10762191" cy="43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513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Probabilistic Reasoning &amp; Evidence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93130" y="1955502"/>
            <a:ext cx="66028" cy="56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8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56286" y="2069802"/>
            <a:ext cx="6170831" cy="45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Segmenttravel time PDFs confirm stochastic delays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56286" y="2577377"/>
            <a:ext cx="7003050" cy="51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Total route time distribution shows uncertainty propagation CDF evaluated at deadline gives reliability Arrival-relative distribution highlights early vs late risk Simulation results from </a:t>
            </a:r>
            <a:r>
              <a:rPr lang="en-US" b="true" sz="2055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SUMO</a:t>
            </a: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capture realistic stochastic </a:t>
            </a:r>
          </a:p>
          <a:p>
            <a:pPr algn="l">
              <a:lnSpc>
                <a:spcPts val="2626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travel time variability.</a:t>
            </a:r>
          </a:p>
          <a:p>
            <a:pPr algn="l">
              <a:lnSpc>
                <a:spcPts val="5138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PDF highlights variability and skewness in travel times </a:t>
            </a:r>
          </a:p>
          <a:p>
            <a:pPr algn="l">
              <a:lnSpc>
                <a:spcPts val="1484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across segments.</a:t>
            </a:r>
          </a:p>
          <a:p>
            <a:pPr algn="l">
              <a:lnSpc>
                <a:spcPts val="5138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CDF directly quantifies probability of meeting the arrival </a:t>
            </a:r>
          </a:p>
          <a:p>
            <a:pPr algn="l">
              <a:lnSpc>
                <a:spcPts val="1484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deadline.</a:t>
            </a:r>
          </a:p>
          <a:p>
            <a:pPr algn="l">
              <a:lnSpc>
                <a:spcPts val="5138"/>
              </a:lnSpc>
            </a:pPr>
            <a:r>
              <a:rPr lang="en-US" sz="2055" spc="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Supports reliability-based routing instead of shortest-path </a:t>
            </a:r>
          </a:p>
          <a:p>
            <a:pPr algn="l">
              <a:lnSpc>
                <a:spcPts val="1484"/>
              </a:lnSpc>
            </a:pPr>
            <a:r>
              <a:rPr lang="en-US" sz="205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decisions.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88670" y="2350643"/>
              <a:ext cx="6252845" cy="2558797"/>
            </a:xfrm>
            <a:custGeom>
              <a:avLst/>
              <a:gdLst/>
              <a:ahLst/>
              <a:cxnLst/>
              <a:rect r="r" b="b" t="t" l="l"/>
              <a:pathLst>
                <a:path h="2558797" w="6252845">
                  <a:moveTo>
                    <a:pt x="1162812" y="127"/>
                  </a:moveTo>
                  <a:cubicBezTo>
                    <a:pt x="1237615" y="127"/>
                    <a:pt x="1298194" y="60706"/>
                    <a:pt x="1298194" y="135509"/>
                  </a:cubicBezTo>
                  <a:lnTo>
                    <a:pt x="1298194" y="1288542"/>
                  </a:lnTo>
                  <a:lnTo>
                    <a:pt x="1336040" y="1250696"/>
                  </a:lnTo>
                  <a:cubicBezTo>
                    <a:pt x="1339596" y="1247140"/>
                    <a:pt x="1345438" y="1247140"/>
                    <a:pt x="1349121" y="1250696"/>
                  </a:cubicBezTo>
                  <a:cubicBezTo>
                    <a:pt x="1352804" y="1254252"/>
                    <a:pt x="1352677" y="1260094"/>
                    <a:pt x="1349121" y="1263777"/>
                  </a:cubicBezTo>
                  <a:lnTo>
                    <a:pt x="1298194" y="1314704"/>
                  </a:lnTo>
                  <a:lnTo>
                    <a:pt x="1298194" y="2418969"/>
                  </a:lnTo>
                  <a:cubicBezTo>
                    <a:pt x="1298194" y="2479929"/>
                    <a:pt x="1347470" y="2529459"/>
                    <a:pt x="1408430" y="2529713"/>
                  </a:cubicBezTo>
                  <a:lnTo>
                    <a:pt x="2414270" y="2534285"/>
                  </a:lnTo>
                  <a:cubicBezTo>
                    <a:pt x="2475611" y="2534539"/>
                    <a:pt x="2525522" y="2484882"/>
                    <a:pt x="2525522" y="2423541"/>
                  </a:cubicBezTo>
                  <a:lnTo>
                    <a:pt x="2525522" y="1377315"/>
                  </a:lnTo>
                  <a:lnTo>
                    <a:pt x="2523490" y="1377315"/>
                  </a:lnTo>
                  <a:lnTo>
                    <a:pt x="2523490" y="1276604"/>
                  </a:lnTo>
                  <a:lnTo>
                    <a:pt x="2480564" y="1319530"/>
                  </a:lnTo>
                  <a:cubicBezTo>
                    <a:pt x="2477008" y="1323086"/>
                    <a:pt x="2471166" y="1323086"/>
                    <a:pt x="2467483" y="1319530"/>
                  </a:cubicBezTo>
                  <a:cubicBezTo>
                    <a:pt x="2463800" y="1315974"/>
                    <a:pt x="2463927" y="1310132"/>
                    <a:pt x="2467483" y="1306449"/>
                  </a:cubicBezTo>
                  <a:lnTo>
                    <a:pt x="2525522" y="1248410"/>
                  </a:lnTo>
                  <a:lnTo>
                    <a:pt x="2525522" y="140589"/>
                  </a:lnTo>
                  <a:cubicBezTo>
                    <a:pt x="2525522" y="66040"/>
                    <a:pt x="2585720" y="5588"/>
                    <a:pt x="2660269" y="5207"/>
                  </a:cubicBezTo>
                  <a:lnTo>
                    <a:pt x="3653790" y="635"/>
                  </a:lnTo>
                  <a:cubicBezTo>
                    <a:pt x="3728847" y="254"/>
                    <a:pt x="3789807" y="60960"/>
                    <a:pt x="3789807" y="136017"/>
                  </a:cubicBezTo>
                  <a:lnTo>
                    <a:pt x="3789807" y="1192784"/>
                  </a:lnTo>
                  <a:lnTo>
                    <a:pt x="3790823" y="1192784"/>
                  </a:lnTo>
                  <a:lnTo>
                    <a:pt x="3790823" y="1293495"/>
                  </a:lnTo>
                  <a:lnTo>
                    <a:pt x="3833749" y="1250569"/>
                  </a:lnTo>
                  <a:cubicBezTo>
                    <a:pt x="3837305" y="1247013"/>
                    <a:pt x="3843147" y="1247013"/>
                    <a:pt x="3846830" y="1250569"/>
                  </a:cubicBezTo>
                  <a:cubicBezTo>
                    <a:pt x="3850513" y="1254125"/>
                    <a:pt x="3850386" y="1259967"/>
                    <a:pt x="3846830" y="1263650"/>
                  </a:cubicBezTo>
                  <a:lnTo>
                    <a:pt x="3789807" y="1320673"/>
                  </a:lnTo>
                  <a:lnTo>
                    <a:pt x="3789807" y="2418207"/>
                  </a:lnTo>
                  <a:cubicBezTo>
                    <a:pt x="3789807" y="2479421"/>
                    <a:pt x="3839337" y="2528951"/>
                    <a:pt x="3900551" y="2528951"/>
                  </a:cubicBezTo>
                  <a:lnTo>
                    <a:pt x="4863338" y="2528951"/>
                  </a:lnTo>
                  <a:cubicBezTo>
                    <a:pt x="4924552" y="2528951"/>
                    <a:pt x="4974082" y="2479421"/>
                    <a:pt x="4974082" y="2418207"/>
                  </a:cubicBezTo>
                  <a:lnTo>
                    <a:pt x="4974082" y="1286891"/>
                  </a:lnTo>
                  <a:lnTo>
                    <a:pt x="4935220" y="1325753"/>
                  </a:lnTo>
                  <a:cubicBezTo>
                    <a:pt x="4931664" y="1329309"/>
                    <a:pt x="4925822" y="1329309"/>
                    <a:pt x="4922139" y="1325753"/>
                  </a:cubicBezTo>
                  <a:cubicBezTo>
                    <a:pt x="4918456" y="1322197"/>
                    <a:pt x="4918583" y="1316355"/>
                    <a:pt x="4922139" y="1312672"/>
                  </a:cubicBezTo>
                  <a:lnTo>
                    <a:pt x="4974082" y="1260729"/>
                  </a:lnTo>
                  <a:lnTo>
                    <a:pt x="4974082" y="141224"/>
                  </a:lnTo>
                  <a:cubicBezTo>
                    <a:pt x="4974082" y="66421"/>
                    <a:pt x="5034661" y="5842"/>
                    <a:pt x="5109464" y="5842"/>
                  </a:cubicBezTo>
                  <a:lnTo>
                    <a:pt x="6064123" y="5842"/>
                  </a:lnTo>
                  <a:cubicBezTo>
                    <a:pt x="6138926" y="5842"/>
                    <a:pt x="6199505" y="66421"/>
                    <a:pt x="6199505" y="141224"/>
                  </a:cubicBezTo>
                  <a:lnTo>
                    <a:pt x="6199505" y="1224534"/>
                  </a:lnTo>
                  <a:cubicBezTo>
                    <a:pt x="6229858" y="1230249"/>
                    <a:pt x="6252845" y="1256919"/>
                    <a:pt x="6252845" y="1289050"/>
                  </a:cubicBezTo>
                  <a:cubicBezTo>
                    <a:pt x="6252845" y="1325245"/>
                    <a:pt x="6223508" y="1354709"/>
                    <a:pt x="6187186" y="1354709"/>
                  </a:cubicBezTo>
                  <a:cubicBezTo>
                    <a:pt x="6150864" y="1354709"/>
                    <a:pt x="6121527" y="1325372"/>
                    <a:pt x="6121527" y="1289050"/>
                  </a:cubicBezTo>
                  <a:cubicBezTo>
                    <a:pt x="6121527" y="1257046"/>
                    <a:pt x="6144514" y="1230376"/>
                    <a:pt x="6174867" y="1224534"/>
                  </a:cubicBezTo>
                  <a:lnTo>
                    <a:pt x="6174867" y="141224"/>
                  </a:lnTo>
                  <a:cubicBezTo>
                    <a:pt x="6174867" y="80010"/>
                    <a:pt x="6125337" y="30480"/>
                    <a:pt x="6064123" y="30480"/>
                  </a:cubicBezTo>
                  <a:lnTo>
                    <a:pt x="5109464" y="30480"/>
                  </a:lnTo>
                  <a:cubicBezTo>
                    <a:pt x="5048250" y="30480"/>
                    <a:pt x="4998720" y="80010"/>
                    <a:pt x="4998720" y="141224"/>
                  </a:cubicBezTo>
                  <a:lnTo>
                    <a:pt x="4998720" y="1258697"/>
                  </a:lnTo>
                  <a:lnTo>
                    <a:pt x="5052695" y="1312672"/>
                  </a:lnTo>
                  <a:cubicBezTo>
                    <a:pt x="5056251" y="1316228"/>
                    <a:pt x="5056251" y="1322070"/>
                    <a:pt x="5052695" y="1325753"/>
                  </a:cubicBezTo>
                  <a:cubicBezTo>
                    <a:pt x="5049139" y="1329436"/>
                    <a:pt x="5043297" y="1329309"/>
                    <a:pt x="5039614" y="1325753"/>
                  </a:cubicBezTo>
                  <a:lnTo>
                    <a:pt x="4998720" y="1284859"/>
                  </a:lnTo>
                  <a:lnTo>
                    <a:pt x="4998720" y="2418207"/>
                  </a:lnTo>
                  <a:cubicBezTo>
                    <a:pt x="4998720" y="2493010"/>
                    <a:pt x="4938141" y="2553589"/>
                    <a:pt x="4863338" y="2553589"/>
                  </a:cubicBezTo>
                  <a:lnTo>
                    <a:pt x="3900551" y="2553589"/>
                  </a:lnTo>
                  <a:cubicBezTo>
                    <a:pt x="3825748" y="2553589"/>
                    <a:pt x="3765169" y="2493010"/>
                    <a:pt x="3765169" y="2418207"/>
                  </a:cubicBezTo>
                  <a:lnTo>
                    <a:pt x="3765169" y="1312545"/>
                  </a:lnTo>
                  <a:lnTo>
                    <a:pt x="3716274" y="1263650"/>
                  </a:lnTo>
                  <a:cubicBezTo>
                    <a:pt x="3712718" y="1260094"/>
                    <a:pt x="3712718" y="1254252"/>
                    <a:pt x="3716274" y="1250569"/>
                  </a:cubicBezTo>
                  <a:cubicBezTo>
                    <a:pt x="3719830" y="1246886"/>
                    <a:pt x="3725672" y="1247013"/>
                    <a:pt x="3729355" y="1250569"/>
                  </a:cubicBezTo>
                  <a:lnTo>
                    <a:pt x="3765169" y="1286383"/>
                  </a:lnTo>
                  <a:lnTo>
                    <a:pt x="3765169" y="136017"/>
                  </a:lnTo>
                  <a:cubicBezTo>
                    <a:pt x="3765169" y="74676"/>
                    <a:pt x="3715258" y="25019"/>
                    <a:pt x="3653917" y="25273"/>
                  </a:cubicBezTo>
                  <a:lnTo>
                    <a:pt x="2660396" y="29845"/>
                  </a:lnTo>
                  <a:cubicBezTo>
                    <a:pt x="2599436" y="30099"/>
                    <a:pt x="2550160" y="79629"/>
                    <a:pt x="2550160" y="140589"/>
                  </a:cubicBezTo>
                  <a:lnTo>
                    <a:pt x="2550160" y="1258697"/>
                  </a:lnTo>
                  <a:lnTo>
                    <a:pt x="2597912" y="1306449"/>
                  </a:lnTo>
                  <a:cubicBezTo>
                    <a:pt x="2601468" y="1310005"/>
                    <a:pt x="2601468" y="1315847"/>
                    <a:pt x="2597912" y="1319530"/>
                  </a:cubicBezTo>
                  <a:cubicBezTo>
                    <a:pt x="2594356" y="1323213"/>
                    <a:pt x="2588514" y="1323086"/>
                    <a:pt x="2584831" y="1319530"/>
                  </a:cubicBezTo>
                  <a:lnTo>
                    <a:pt x="2550033" y="1284732"/>
                  </a:lnTo>
                  <a:lnTo>
                    <a:pt x="2550033" y="2423414"/>
                  </a:lnTo>
                  <a:cubicBezTo>
                    <a:pt x="2550033" y="2498471"/>
                    <a:pt x="2489073" y="2559050"/>
                    <a:pt x="2414016" y="2558796"/>
                  </a:cubicBezTo>
                  <a:lnTo>
                    <a:pt x="1408176" y="2554224"/>
                  </a:lnTo>
                  <a:cubicBezTo>
                    <a:pt x="1333627" y="2553843"/>
                    <a:pt x="1273429" y="2493391"/>
                    <a:pt x="1273429" y="2418842"/>
                  </a:cubicBezTo>
                  <a:lnTo>
                    <a:pt x="1273429" y="1318641"/>
                  </a:lnTo>
                  <a:lnTo>
                    <a:pt x="1218438" y="1263650"/>
                  </a:lnTo>
                  <a:cubicBezTo>
                    <a:pt x="1214882" y="1260094"/>
                    <a:pt x="1214882" y="1254252"/>
                    <a:pt x="1218438" y="1250569"/>
                  </a:cubicBezTo>
                  <a:cubicBezTo>
                    <a:pt x="1221994" y="1246886"/>
                    <a:pt x="1227836" y="1247013"/>
                    <a:pt x="1231519" y="1250569"/>
                  </a:cubicBezTo>
                  <a:lnTo>
                    <a:pt x="1273429" y="1292479"/>
                  </a:lnTo>
                  <a:lnTo>
                    <a:pt x="1273429" y="135382"/>
                  </a:lnTo>
                  <a:cubicBezTo>
                    <a:pt x="1273429" y="74168"/>
                    <a:pt x="1223899" y="24638"/>
                    <a:pt x="1162685" y="24638"/>
                  </a:cubicBezTo>
                  <a:lnTo>
                    <a:pt x="188722" y="24638"/>
                  </a:lnTo>
                  <a:cubicBezTo>
                    <a:pt x="127508" y="24638"/>
                    <a:pt x="77978" y="74168"/>
                    <a:pt x="77978" y="135382"/>
                  </a:cubicBezTo>
                  <a:lnTo>
                    <a:pt x="77978" y="1224407"/>
                  </a:lnTo>
                  <a:cubicBezTo>
                    <a:pt x="108331" y="1230122"/>
                    <a:pt x="131318" y="1256792"/>
                    <a:pt x="131318" y="1288923"/>
                  </a:cubicBezTo>
                  <a:cubicBezTo>
                    <a:pt x="131318" y="1325118"/>
                    <a:pt x="101981" y="1354582"/>
                    <a:pt x="65659" y="1354582"/>
                  </a:cubicBezTo>
                  <a:cubicBezTo>
                    <a:pt x="29337" y="1354582"/>
                    <a:pt x="0" y="1325245"/>
                    <a:pt x="0" y="1288923"/>
                  </a:cubicBezTo>
                  <a:cubicBezTo>
                    <a:pt x="0" y="1256919"/>
                    <a:pt x="22987" y="1230249"/>
                    <a:pt x="53340" y="1224407"/>
                  </a:cubicBezTo>
                  <a:lnTo>
                    <a:pt x="53340" y="135382"/>
                  </a:lnTo>
                  <a:cubicBezTo>
                    <a:pt x="53340" y="60579"/>
                    <a:pt x="113919" y="0"/>
                    <a:pt x="188722" y="0"/>
                  </a:cubicBezTo>
                  <a:lnTo>
                    <a:pt x="1162812" y="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2613" y="1960150"/>
            <a:ext cx="7234812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Operational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0710" y="3782277"/>
            <a:ext cx="931660" cy="34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176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Simulate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4115" y="4144223"/>
            <a:ext cx="45498" cy="30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4245" y="6658620"/>
            <a:ext cx="813137" cy="33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176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0789" y="7001059"/>
            <a:ext cx="45498" cy="30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9542" y="3820377"/>
            <a:ext cx="261804" cy="3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33937" y="6438875"/>
            <a:ext cx="1121245" cy="33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1769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Aggregate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02749" y="6781299"/>
            <a:ext cx="45498" cy="30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3730" y="3820377"/>
            <a:ext cx="911026" cy="3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Evaluate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753" y="4220423"/>
            <a:ext cx="1409054" cy="44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0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r>
              <a:rPr lang="en-US" sz="14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calibrated stochastic SUMO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02411" y="7067734"/>
            <a:ext cx="1515222" cy="23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Extracttraveltime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82312" y="7297491"/>
            <a:ext cx="694720" cy="23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samples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24328" y="4220423"/>
            <a:ext cx="1072643" cy="67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Estimate per‑segment distributions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9763" y="6857499"/>
            <a:ext cx="1211420" cy="22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MonteCarlo 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73524" y="7077259"/>
            <a:ext cx="678301" cy="22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analytic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7903" y="7307016"/>
            <a:ext cx="950118" cy="22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58906" y="4220423"/>
            <a:ext cx="1557874" cy="44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Compute P(T_route ≤ D) and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7494" y="4669925"/>
            <a:ext cx="352557" cy="22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41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44690" y="3797890"/>
            <a:ext cx="5349261" cy="370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Implementation steps: calibrated SUMO runs → Monte Carlo sampling → estimate PDFs/CDFs → compute reliability metric →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rank candidate routes.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Metric: Reliability = P(T_route ≤ D). </a:t>
            </a:r>
          </a:p>
          <a:p>
            <a:pPr algn="l">
              <a:lnSpc>
                <a:spcPts val="155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Simplifications currently: no segment 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correlation, static deadlines, conservative </a:t>
            </a:r>
          </a:p>
          <a:p>
            <a:pPr algn="l">
              <a:lnSpc>
                <a:spcPts val="131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analytical bounds for safety.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491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613" y="2766637"/>
            <a:ext cx="7836588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Limitations &amp; Validation Needs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1731" y="4316231"/>
            <a:ext cx="3405597" cy="233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Independence</a:t>
            </a:r>
          </a:p>
          <a:p>
            <a:pPr algn="l">
              <a:lnSpc>
                <a:spcPts val="341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Segment independence may be violated; correlated delays (spillback) can bias reliability estimates.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15900" y="4316231"/>
            <a:ext cx="3278035" cy="277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Distribution Fit</a:t>
            </a:r>
          </a:p>
          <a:p>
            <a:pPr algn="l">
              <a:lnSpc>
                <a:spcPts val="341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Lognormal is a pragmatic choice but requires goodness-of-fit testing across regimes and times 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of day.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0069" y="4316231"/>
            <a:ext cx="3183219" cy="233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Analytical Bounds</a:t>
            </a:r>
          </a:p>
          <a:p>
            <a:pPr algn="l">
              <a:lnSpc>
                <a:spcPts val="341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Conservative bounds provide safety but can be overly pessimistic for decision-making.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4237" y="4316231"/>
            <a:ext cx="3422822" cy="277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Operational Gaps</a:t>
            </a:r>
          </a:p>
          <a:p>
            <a:pPr algn="l">
              <a:lnSpc>
                <a:spcPts val="341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 adaptive rerouting or real-time Bayesian updates yet; latency and computational cost matter </a:t>
            </a:r>
          </a:p>
          <a:p>
            <a:pPr algn="l">
              <a:lnSpc>
                <a:spcPts val="3713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for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18260082" cy="10286102"/>
            <a:chOff x="0" y="0"/>
            <a:chExt cx="1143000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613" y="2084693"/>
            <a:ext cx="1689058" cy="2115126"/>
            <a:chOff x="0" y="0"/>
            <a:chExt cx="1409700" cy="176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97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4097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685290"/>
                  </a:lnTo>
                  <a:cubicBezTo>
                    <a:pt x="0" y="1695958"/>
                    <a:pt x="2032" y="1706118"/>
                    <a:pt x="6096" y="1715897"/>
                  </a:cubicBezTo>
                  <a:cubicBezTo>
                    <a:pt x="10160" y="1725676"/>
                    <a:pt x="15875" y="1734312"/>
                    <a:pt x="23495" y="1741805"/>
                  </a:cubicBezTo>
                  <a:cubicBezTo>
                    <a:pt x="31115" y="1749298"/>
                    <a:pt x="39624" y="1755140"/>
                    <a:pt x="49403" y="1759204"/>
                  </a:cubicBezTo>
                  <a:cubicBezTo>
                    <a:pt x="59182" y="1763268"/>
                    <a:pt x="69469" y="1765300"/>
                    <a:pt x="80010" y="1765300"/>
                  </a:cubicBezTo>
                  <a:lnTo>
                    <a:pt x="1329690" y="1765300"/>
                  </a:lnTo>
                  <a:cubicBezTo>
                    <a:pt x="1340358" y="1765300"/>
                    <a:pt x="1350518" y="1763268"/>
                    <a:pt x="1360297" y="1759204"/>
                  </a:cubicBezTo>
                  <a:cubicBezTo>
                    <a:pt x="1370076" y="1755140"/>
                    <a:pt x="1378712" y="1749425"/>
                    <a:pt x="1386205" y="1741805"/>
                  </a:cubicBezTo>
                  <a:cubicBezTo>
                    <a:pt x="1393698" y="1734185"/>
                    <a:pt x="1399540" y="1725676"/>
                    <a:pt x="1403604" y="1715897"/>
                  </a:cubicBezTo>
                  <a:cubicBezTo>
                    <a:pt x="1407668" y="1706118"/>
                    <a:pt x="1409700" y="1695958"/>
                    <a:pt x="1409700" y="1685290"/>
                  </a:cubicBezTo>
                  <a:lnTo>
                    <a:pt x="1409700" y="80010"/>
                  </a:lnTo>
                  <a:cubicBezTo>
                    <a:pt x="1409700" y="69469"/>
                    <a:pt x="1407668" y="59182"/>
                    <a:pt x="1403604" y="49403"/>
                  </a:cubicBezTo>
                  <a:cubicBezTo>
                    <a:pt x="1399540" y="39624"/>
                    <a:pt x="1393825" y="30988"/>
                    <a:pt x="1386205" y="23495"/>
                  </a:cubicBezTo>
                  <a:cubicBezTo>
                    <a:pt x="1378585" y="16002"/>
                    <a:pt x="1370076" y="10160"/>
                    <a:pt x="1360297" y="6096"/>
                  </a:cubicBezTo>
                  <a:cubicBezTo>
                    <a:pt x="1350518" y="2032"/>
                    <a:pt x="1340358" y="0"/>
                    <a:pt x="1329690" y="0"/>
                  </a:cubicBezTo>
                  <a:close/>
                </a:path>
              </a:pathLst>
            </a:custGeom>
            <a:blipFill>
              <a:blip r:embed="rId2"/>
              <a:stretch>
                <a:fillRect l="-45" t="-48" r="-45" b="-4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41999" y="2084693"/>
            <a:ext cx="1689058" cy="2115126"/>
            <a:chOff x="0" y="0"/>
            <a:chExt cx="1409700" cy="1765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97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4097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685290"/>
                  </a:lnTo>
                  <a:cubicBezTo>
                    <a:pt x="0" y="1695958"/>
                    <a:pt x="2032" y="1706118"/>
                    <a:pt x="6096" y="1715897"/>
                  </a:cubicBezTo>
                  <a:cubicBezTo>
                    <a:pt x="10160" y="1725676"/>
                    <a:pt x="15875" y="1734312"/>
                    <a:pt x="23495" y="1741805"/>
                  </a:cubicBezTo>
                  <a:cubicBezTo>
                    <a:pt x="31115" y="1749298"/>
                    <a:pt x="39624" y="1755140"/>
                    <a:pt x="49403" y="1759204"/>
                  </a:cubicBezTo>
                  <a:cubicBezTo>
                    <a:pt x="59182" y="1763268"/>
                    <a:pt x="69342" y="1765300"/>
                    <a:pt x="80010" y="1765300"/>
                  </a:cubicBezTo>
                  <a:lnTo>
                    <a:pt x="1329690" y="1765300"/>
                  </a:lnTo>
                  <a:cubicBezTo>
                    <a:pt x="1340358" y="1765300"/>
                    <a:pt x="1350518" y="1763268"/>
                    <a:pt x="1360297" y="1759204"/>
                  </a:cubicBezTo>
                  <a:cubicBezTo>
                    <a:pt x="1370076" y="1755140"/>
                    <a:pt x="1378712" y="1749425"/>
                    <a:pt x="1386205" y="1741805"/>
                  </a:cubicBezTo>
                  <a:cubicBezTo>
                    <a:pt x="1393698" y="1734185"/>
                    <a:pt x="1399540" y="1725676"/>
                    <a:pt x="1403604" y="1715897"/>
                  </a:cubicBezTo>
                  <a:cubicBezTo>
                    <a:pt x="1407668" y="1706118"/>
                    <a:pt x="1409700" y="1695958"/>
                    <a:pt x="1409700" y="1685290"/>
                  </a:cubicBezTo>
                  <a:lnTo>
                    <a:pt x="1409700" y="80010"/>
                  </a:lnTo>
                  <a:cubicBezTo>
                    <a:pt x="1409700" y="69469"/>
                    <a:pt x="1407668" y="59182"/>
                    <a:pt x="1403604" y="49403"/>
                  </a:cubicBezTo>
                  <a:cubicBezTo>
                    <a:pt x="1399540" y="39624"/>
                    <a:pt x="1393825" y="30988"/>
                    <a:pt x="1386205" y="23495"/>
                  </a:cubicBezTo>
                  <a:cubicBezTo>
                    <a:pt x="1378585" y="16002"/>
                    <a:pt x="1370076" y="10160"/>
                    <a:pt x="1360297" y="6096"/>
                  </a:cubicBezTo>
                  <a:cubicBezTo>
                    <a:pt x="1350518" y="2032"/>
                    <a:pt x="1340358" y="0"/>
                    <a:pt x="1329690" y="0"/>
                  </a:cubicBezTo>
                  <a:close/>
                </a:path>
              </a:pathLst>
            </a:custGeom>
            <a:blipFill>
              <a:blip r:embed="rId3"/>
              <a:stretch>
                <a:fillRect l="-45" t="-48" r="-45" b="-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11384" y="2084693"/>
            <a:ext cx="1689058" cy="2115126"/>
            <a:chOff x="0" y="0"/>
            <a:chExt cx="1409700" cy="1765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97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4097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685290"/>
                  </a:lnTo>
                  <a:cubicBezTo>
                    <a:pt x="0" y="1695958"/>
                    <a:pt x="2032" y="1706118"/>
                    <a:pt x="6096" y="1715897"/>
                  </a:cubicBezTo>
                  <a:cubicBezTo>
                    <a:pt x="10160" y="1725676"/>
                    <a:pt x="15875" y="1734312"/>
                    <a:pt x="23495" y="1741805"/>
                  </a:cubicBezTo>
                  <a:cubicBezTo>
                    <a:pt x="31115" y="1749298"/>
                    <a:pt x="39624" y="1755140"/>
                    <a:pt x="49403" y="1759204"/>
                  </a:cubicBezTo>
                  <a:cubicBezTo>
                    <a:pt x="59182" y="1763268"/>
                    <a:pt x="69342" y="1765300"/>
                    <a:pt x="80010" y="1765300"/>
                  </a:cubicBezTo>
                  <a:lnTo>
                    <a:pt x="1329690" y="1765300"/>
                  </a:lnTo>
                  <a:cubicBezTo>
                    <a:pt x="1340358" y="1765300"/>
                    <a:pt x="1350518" y="1763268"/>
                    <a:pt x="1360297" y="1759204"/>
                  </a:cubicBezTo>
                  <a:cubicBezTo>
                    <a:pt x="1370076" y="1755140"/>
                    <a:pt x="1378712" y="1749425"/>
                    <a:pt x="1386205" y="1741805"/>
                  </a:cubicBezTo>
                  <a:cubicBezTo>
                    <a:pt x="1393698" y="1734185"/>
                    <a:pt x="1399540" y="1725676"/>
                    <a:pt x="1403604" y="1715897"/>
                  </a:cubicBezTo>
                  <a:cubicBezTo>
                    <a:pt x="1407668" y="1706118"/>
                    <a:pt x="1409700" y="1695958"/>
                    <a:pt x="1409700" y="1685290"/>
                  </a:cubicBezTo>
                  <a:lnTo>
                    <a:pt x="1409700" y="80010"/>
                  </a:lnTo>
                  <a:cubicBezTo>
                    <a:pt x="1409700" y="69469"/>
                    <a:pt x="1407668" y="59182"/>
                    <a:pt x="1403604" y="49403"/>
                  </a:cubicBezTo>
                  <a:cubicBezTo>
                    <a:pt x="1399540" y="39624"/>
                    <a:pt x="1393825" y="30988"/>
                    <a:pt x="1386205" y="23495"/>
                  </a:cubicBezTo>
                  <a:cubicBezTo>
                    <a:pt x="1378585" y="16002"/>
                    <a:pt x="1370076" y="10160"/>
                    <a:pt x="1360297" y="6096"/>
                  </a:cubicBezTo>
                  <a:cubicBezTo>
                    <a:pt x="1350518" y="2032"/>
                    <a:pt x="1340358" y="0"/>
                    <a:pt x="1329690" y="0"/>
                  </a:cubicBezTo>
                  <a:close/>
                </a:path>
              </a:pathLst>
            </a:custGeom>
            <a:blipFill>
              <a:blip r:embed="rId4"/>
              <a:stretch>
                <a:fillRect l="-45" t="-48" r="-45" b="-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80770" y="2084693"/>
            <a:ext cx="1689058" cy="2115126"/>
            <a:chOff x="0" y="0"/>
            <a:chExt cx="1409700" cy="1765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97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4097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685290"/>
                  </a:lnTo>
                  <a:cubicBezTo>
                    <a:pt x="0" y="1695958"/>
                    <a:pt x="2032" y="1706118"/>
                    <a:pt x="6096" y="1715897"/>
                  </a:cubicBezTo>
                  <a:cubicBezTo>
                    <a:pt x="10160" y="1725676"/>
                    <a:pt x="15875" y="1734312"/>
                    <a:pt x="23495" y="1741805"/>
                  </a:cubicBezTo>
                  <a:cubicBezTo>
                    <a:pt x="31115" y="1749298"/>
                    <a:pt x="39624" y="1755140"/>
                    <a:pt x="49403" y="1759204"/>
                  </a:cubicBezTo>
                  <a:cubicBezTo>
                    <a:pt x="59182" y="1763268"/>
                    <a:pt x="69342" y="1765300"/>
                    <a:pt x="80010" y="1765300"/>
                  </a:cubicBezTo>
                  <a:lnTo>
                    <a:pt x="1329690" y="1765300"/>
                  </a:lnTo>
                  <a:cubicBezTo>
                    <a:pt x="1340358" y="1765300"/>
                    <a:pt x="1350518" y="1763268"/>
                    <a:pt x="1360297" y="1759204"/>
                  </a:cubicBezTo>
                  <a:cubicBezTo>
                    <a:pt x="1370076" y="1755140"/>
                    <a:pt x="1378712" y="1749425"/>
                    <a:pt x="1386205" y="1741805"/>
                  </a:cubicBezTo>
                  <a:cubicBezTo>
                    <a:pt x="1393698" y="1734185"/>
                    <a:pt x="1399540" y="1725676"/>
                    <a:pt x="1403604" y="1715897"/>
                  </a:cubicBezTo>
                  <a:cubicBezTo>
                    <a:pt x="1407668" y="1706118"/>
                    <a:pt x="1409700" y="1695958"/>
                    <a:pt x="1409700" y="1685290"/>
                  </a:cubicBezTo>
                  <a:lnTo>
                    <a:pt x="1409700" y="80010"/>
                  </a:lnTo>
                  <a:cubicBezTo>
                    <a:pt x="1409700" y="69469"/>
                    <a:pt x="1407668" y="59182"/>
                    <a:pt x="1403604" y="49403"/>
                  </a:cubicBezTo>
                  <a:cubicBezTo>
                    <a:pt x="1399540" y="39624"/>
                    <a:pt x="1393825" y="30988"/>
                    <a:pt x="1386205" y="23495"/>
                  </a:cubicBezTo>
                  <a:cubicBezTo>
                    <a:pt x="1378585" y="16002"/>
                    <a:pt x="1370076" y="10160"/>
                    <a:pt x="1360297" y="6096"/>
                  </a:cubicBezTo>
                  <a:cubicBezTo>
                    <a:pt x="1350518" y="2032"/>
                    <a:pt x="1340358" y="0"/>
                    <a:pt x="1329690" y="0"/>
                  </a:cubicBezTo>
                  <a:close/>
                </a:path>
              </a:pathLst>
            </a:custGeom>
            <a:blipFill>
              <a:blip r:embed="rId5"/>
              <a:stretch>
                <a:fillRect l="-45" t="-48" r="-45" b="-4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1163" y="8092762"/>
            <a:ext cx="16545658" cy="248535"/>
            <a:chOff x="0" y="0"/>
            <a:chExt cx="10356850" cy="155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0229850" cy="28575"/>
            </a:xfrm>
            <a:custGeom>
              <a:avLst/>
              <a:gdLst/>
              <a:ahLst/>
              <a:cxnLst/>
              <a:rect r="r" b="b" t="t" l="l"/>
              <a:pathLst>
                <a:path h="28575" w="10229850">
                  <a:moveTo>
                    <a:pt x="0" y="28575"/>
                  </a:moveTo>
                  <a:lnTo>
                    <a:pt x="10229850" y="28575"/>
                  </a:lnTo>
                  <a:lnTo>
                    <a:pt x="10229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3939">
                <a:alpha val="25098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82550"/>
              <a:ext cx="10229850" cy="9525"/>
            </a:xfrm>
            <a:custGeom>
              <a:avLst/>
              <a:gdLst/>
              <a:ahLst/>
              <a:cxnLst/>
              <a:rect r="r" b="b" t="t" l="l"/>
              <a:pathLst>
                <a:path h="9525" w="10229850">
                  <a:moveTo>
                    <a:pt x="0" y="9525"/>
                  </a:moveTo>
                  <a:lnTo>
                    <a:pt x="10229850" y="9525"/>
                  </a:lnTo>
                  <a:lnTo>
                    <a:pt x="102298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2613" y="773244"/>
            <a:ext cx="9007196" cy="7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Planned Refinements &amp; Next Steps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613" y="4483615"/>
            <a:ext cx="3473494" cy="277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Correlation Modeling</a:t>
            </a:r>
          </a:p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Incorporate inter-segment correlation via copulas or multivariate distributions to better capture spillback effects.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3901" y="4378840"/>
            <a:ext cx="3028480" cy="57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Bayesian Updating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29775" y="4991955"/>
            <a:ext cx="69282" cy="51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15203" y="4483615"/>
            <a:ext cx="3860303" cy="234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Dynamic Rerouting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Design low-latency rerouting policies that trade off travel- time expectation and reliability under updated forecasts.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86476" y="4521715"/>
            <a:ext cx="3675998" cy="316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Evaluation &amp; Reproducibility</a:t>
            </a:r>
          </a:p>
          <a:p>
            <a:pPr algn="l">
              <a:lnSpc>
                <a:spcPts val="3427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Tighten validation: cross‑validation of fits, A/B tests in simulation, publish code and datasets on GitHub for reproducibility.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43901" y="5096730"/>
            <a:ext cx="3936950" cy="173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Fuselivesensordatato update distribution parameters and reduce uncertainty during the trip.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2613" y="8520511"/>
            <a:ext cx="16537867" cy="8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takeaways: travel times are stochastic — use PDFs/CDFs and Monte Carlo plus improved correlation models and online updates to enable robust, risk‑aware routing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DAHBx8ZZy0A</dc:identifier>
  <dcterms:modified xsi:type="dcterms:W3CDTF">2011-08-01T06:04:30Z</dcterms:modified>
  <cp:revision>1</cp:revision>
  <dc:title>Probabilistic Route Selection for On‐Time Arrival</dc:title>
</cp:coreProperties>
</file>